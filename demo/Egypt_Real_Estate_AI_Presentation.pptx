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Egypt Real Estate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AI-Powered Property Valuation for the Egyptian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119,916 Listings  |  R2 = 0.7061  |  6 Governorates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A0F1C"/>
                </a:solidFill>
              </a:rPr>
              <a:t>1.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A0F1C"/>
                </a:solidFill>
              </a:rPr>
              <a:t>2. 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A0F1C"/>
                </a:solidFill>
              </a:rPr>
              <a:t>3. Dataset &amp;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54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A0F1C"/>
                </a:solidFill>
              </a:rPr>
              <a:t>4. 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A0F1C"/>
                </a:solidFill>
              </a:rPr>
              <a:t>5. Features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60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A0F1C"/>
                </a:solidFill>
              </a:rPr>
              <a:t>6. Live Demo Screenshots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A0F1C"/>
                </a:solidFill>
              </a:rPr>
              <a:t>7. Results &amp;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166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A0F1C"/>
                </a:solidFill>
              </a:rPr>
              <a:t>8. Competitive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A0F1C"/>
                </a:solidFill>
              </a:rPr>
              <a:t>9. Future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A0F1C"/>
                </a:solidFill>
              </a:rPr>
              <a:t>Difficulty in Valuing Properties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Buyers and sellers struggle to determine fair prices in Egypt.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91440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A0F1C"/>
                </a:solidFill>
              </a:rPr>
              <a:t>No Standardized 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Egypt lacks a reliable AI-powered valuation tool like Zestimate.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91440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A0F1C"/>
                </a:solidFill>
              </a:rPr>
              <a:t>Market Opacity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Prices vary wildly across districts with no clear benchmark.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937760"/>
            <a:ext cx="91440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A0F1C"/>
                </a:solidFill>
              </a:rPr>
              <a:t>Language Barrier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49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Most tools are English-only, ignoring 100M+ Arabic speakers.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A0F1C"/>
                </a:solidFill>
              </a:rPr>
              <a:t>- AI-powered price estimation using CatBoost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A0F1C"/>
                </a:solidFill>
              </a:rPr>
              <a:t>- Trained on 119,916 real Egyptian listings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A0F1C"/>
                </a:solidFill>
              </a:rPr>
              <a:t>- Full Arabic (RTL) + English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A0F1C"/>
                </a:solidFill>
              </a:rPr>
              <a:t>- Instant results with confidence intervals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A0F1C"/>
                </a:solidFill>
              </a:rPr>
              <a:t>- Comprehensive market analysis &amp; 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A0F1C"/>
                </a:solidFill>
              </a:rPr>
              <a:t>- Dark mode + mobile-friendly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A0F1C"/>
                </a:solidFill>
              </a:rPr>
              <a:t>- Free PDF reports &amp; shareable 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A0F1C"/>
                </a:solidFill>
              </a:rPr>
              <a:t>- Property comparison &amp; favorites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Key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108960" cy="1645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66FF"/>
                </a:solidFill>
              </a:rPr>
              <a:t>0.7061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</a:rPr>
              <a:t>R2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108960" cy="1645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2860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66FF"/>
                </a:solidFill>
              </a:rPr>
              <a:t>40.52%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</a:rPr>
              <a:t>MAPE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011680"/>
            <a:ext cx="3108960" cy="1645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2860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66FF"/>
                </a:solidFill>
              </a:rPr>
              <a:t>119,916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</a:rPr>
              <a:t>Listings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23360"/>
            <a:ext cx="3108960" cy="1645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66FF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</a:rPr>
              <a:t>Governorates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023360"/>
            <a:ext cx="3108960" cy="1645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297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66FF"/>
                </a:solidFill>
              </a:rPr>
              <a:t>573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120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</a:rPr>
              <a:t>Districts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4023360"/>
            <a:ext cx="3108960" cy="1645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297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66FF"/>
                </a:solidFill>
              </a:rPr>
              <a:t>881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120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</a:rPr>
              <a:t>Compounds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0F1C"/>
                </a:solidFill>
              </a:rPr>
              <a:t>119,916 Listings from 7 Data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Governorate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Listings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51760"/>
            <a:ext cx="1005840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Cairo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65,674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54.8%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108960"/>
            <a:ext cx="10058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Giza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30,374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25.3%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566160"/>
            <a:ext cx="1005840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611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Matrouh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10,545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8.8%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023360"/>
            <a:ext cx="10058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Red Sea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6,253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5.2%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480560"/>
            <a:ext cx="1005840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526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Alexandria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4,122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3.4%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937760"/>
            <a:ext cx="10058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Suez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2,948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2.5%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Machine Learning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66FF"/>
                </a:solidFill>
              </a:rPr>
              <a:t>CatBoost Regressor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</a:rPr>
              <a:t>Gradient Boosting on Decision Trees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0F1C"/>
                </a:solidFill>
              </a:rPr>
              <a:t>Algorithm: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743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</a:rPr>
              <a:t>CatBoost Regressor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0F1C"/>
                </a:solidFill>
              </a:rPr>
              <a:t>Training Set: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246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</a:rPr>
              <a:t>95,932 listings (80%)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0F1C"/>
                </a:solidFill>
              </a:rPr>
              <a:t>Test Set: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749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</a:rPr>
              <a:t>23,984 listings (20%)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0F1C"/>
                </a:solidFill>
              </a:rPr>
              <a:t>Features: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251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</a:rPr>
              <a:t>32 engineered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0F1C"/>
                </a:solidFill>
              </a:rPr>
              <a:t>R2 Score: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754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</a:rPr>
              <a:t>0.7061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0F1C"/>
                </a:solidFill>
              </a:rPr>
              <a:t>MAPE: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257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</a:rPr>
              <a:t>40.52%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3657600" cy="502920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190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7190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A0F1C"/>
                </a:solidFill>
              </a:rPr>
              <a:t>Streamlit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3657600" cy="502920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134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31343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A0F1C"/>
                </a:solidFill>
              </a:rPr>
              <a:t>CatBoost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34640"/>
            <a:ext cx="3657600" cy="502920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077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Data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9077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A0F1C"/>
                </a:solidFill>
              </a:rPr>
              <a:t>Pandas, NumPy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429000"/>
            <a:ext cx="3657600" cy="502920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021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5021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A0F1C"/>
                </a:solidFill>
              </a:rPr>
              <a:t>Plotly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23360"/>
            <a:ext cx="3657600" cy="502920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965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0965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A0F1C"/>
                </a:solidFill>
              </a:rPr>
              <a:t>Folium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3657600" cy="502920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6908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PDF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6908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A0F1C"/>
                </a:solidFill>
              </a:rPr>
              <a:t>ReportLab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212080"/>
            <a:ext cx="3657600" cy="502920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2852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Styling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28523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A0F1C"/>
                </a:solidFill>
              </a:rPr>
              <a:t>Custom CSS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806440"/>
            <a:ext cx="3657600" cy="502920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8795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58795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A0F1C"/>
                </a:solidFill>
              </a:rPr>
              <a:t>Streamlit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Key Features (1/2)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05840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190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0F1C"/>
                </a:solidFill>
              </a:rPr>
              <a:t>AI Price Estimator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7647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5-level location + 32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1005840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4963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0F1C"/>
                </a:solidFill>
              </a:rPr>
              <a:t>Property Gallery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5420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5 sample images per property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005840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735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0F1C"/>
                </a:solidFill>
              </a:rPr>
              <a:t>Price History &amp; Forecast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3192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2020-2027 with interactive chart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77640"/>
            <a:ext cx="1005840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050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0F1C"/>
                </a:solidFill>
              </a:rPr>
              <a:t>Property 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096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Interactive Leaflet 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54880"/>
            <a:ext cx="1005840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828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0F1C"/>
                </a:solidFill>
              </a:rPr>
              <a:t>Investment Analysis (ROI)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873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6 metrics including yield &amp; payback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532120"/>
            <a:ext cx="1005840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6052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0F1C"/>
                </a:solidFill>
              </a:rPr>
              <a:t>Neighborhood 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6509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Schools, hospitals, transport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Key Features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05840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190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0F1C"/>
                </a:solidFill>
              </a:rPr>
              <a:t>Market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7647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7 interactive charts + filters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1005840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4963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0F1C"/>
                </a:solidFill>
              </a:rPr>
              <a:t>Advanced Mortgage Calculator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5420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Pie &amp; balance charts, amortization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005840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735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0F1C"/>
                </a:solidFill>
              </a:rPr>
              <a:t>Compare Properties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3192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Side-by-side 2-4 properties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77640"/>
            <a:ext cx="1005840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050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0F1C"/>
                </a:solidFill>
              </a:rPr>
              <a:t>Favorites + Export/Import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096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Save searches &amp; property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54880"/>
            <a:ext cx="1005840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828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0F1C"/>
                </a:solidFill>
              </a:rPr>
              <a:t>Chat with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873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Built-in UI for agent contact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532120"/>
            <a:ext cx="1005840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6052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0F1C"/>
                </a:solidFill>
              </a:rPr>
              <a:t>Dark Mode + Arabic RTL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6509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Full bilingual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Live Demo - Homepage</a:t>
            </a:r>
          </a:p>
        </p:txBody>
      </p:sp>
      <p:pic>
        <p:nvPicPr>
          <p:cNvPr id="5" name="Picture 4" descr="01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487" y="1371600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Live Demo - Estimation Result</a:t>
            </a:r>
          </a:p>
        </p:txBody>
      </p:sp>
      <p:pic>
        <p:nvPicPr>
          <p:cNvPr id="5" name="Picture 4" descr="09_result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487" y="1371600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Live Demo - Property Types</a:t>
            </a:r>
          </a:p>
        </p:txBody>
      </p:sp>
      <p:pic>
        <p:nvPicPr>
          <p:cNvPr id="5" name="Picture 4" descr="03_property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487" y="1371600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Live Demo - Dark Mode</a:t>
            </a:r>
          </a:p>
        </p:txBody>
      </p:sp>
      <p:pic>
        <p:nvPicPr>
          <p:cNvPr id="5" name="Picture 4" descr="06_dark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487" y="1371600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Live Demo - Investment Analysis</a:t>
            </a:r>
          </a:p>
        </p:txBody>
      </p:sp>
      <p:pic>
        <p:nvPicPr>
          <p:cNvPr id="5" name="Picture 4" descr="10_result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487" y="1371600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Results &amp;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05840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0F1C"/>
                </a:solidFill>
              </a:rPr>
              <a:t>R2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FF"/>
                </a:solidFill>
              </a:rPr>
              <a:t>0.7061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70.6% variance explained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23160"/>
            <a:ext cx="1005840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0F1C"/>
                </a:solidFill>
              </a:rPr>
              <a:t>MAPE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FF"/>
                </a:solidFill>
              </a:rPr>
              <a:t>40.52%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Average error margin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00400"/>
            <a:ext cx="1005840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0F1C"/>
                </a:solidFill>
              </a:rPr>
              <a:t>Sample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FF"/>
                </a:solidFill>
              </a:rPr>
              <a:t>119,916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Real listings from Egypt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77640"/>
            <a:ext cx="1005840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0F1C"/>
                </a:solidFill>
              </a:rPr>
              <a:t>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FF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Governorates with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754880"/>
            <a:ext cx="1005840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0F1C"/>
                </a:solidFill>
              </a:rPr>
              <a:t>Inference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800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FF"/>
                </a:solidFill>
              </a:rPr>
              <a:t>&lt; 2s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892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Instant predictions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532120"/>
            <a:ext cx="1005840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0F1C"/>
                </a:solidFill>
              </a:rPr>
              <a:t>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FF"/>
                </a:solidFill>
              </a:rPr>
              <a:t>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On Cairo, Giza, Alexandria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Competitive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A0F1C"/>
                </a:solidFill>
              </a:rPr>
              <a:t>How we compare to industry leaders: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515600" cy="5029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84831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084831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Zillow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084831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Nawy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084831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Aqarmap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084831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1051560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334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F1C"/>
                </a:solidFill>
              </a:rPr>
              <a:t>AI Estimate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6334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59669"/>
                </a:solidFill>
              </a:rPr>
              <a:t>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6334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6334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6334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59669"/>
                </a:solidFill>
              </a:rPr>
              <a:t>Yes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06324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363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F1C"/>
                </a:solidFill>
              </a:rPr>
              <a:t>Price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1363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59669"/>
                </a:solidFill>
              </a:rPr>
              <a:t>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1363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59669"/>
                </a:solidFill>
              </a:rPr>
              <a:t>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1363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1363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59669"/>
                </a:solidFill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6393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F1C"/>
                </a:solidFill>
              </a:rPr>
              <a:t>ROI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6393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59669"/>
                </a:solidFill>
              </a:rPr>
              <a:t>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6393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6393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6393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59669"/>
                </a:solidFill>
              </a:rPr>
              <a:t>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06908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1422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F1C"/>
                </a:solidFill>
              </a:rPr>
              <a:t>Arabic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41422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41422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59669"/>
                </a:solidFill>
              </a:rPr>
              <a:t>Yes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1422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59669"/>
                </a:solidFill>
              </a:rPr>
              <a:t>Yes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1422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59669"/>
                </a:solidFill>
              </a:rP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6451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F1C"/>
                </a:solidFill>
              </a:rPr>
              <a:t>Dark Mode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46451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59669"/>
                </a:solidFill>
              </a:rPr>
              <a:t>Yes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46451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59669"/>
                </a:solidFill>
              </a:rPr>
              <a:t>Yes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6451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59669"/>
                </a:solidFill>
              </a:rPr>
              <a:t>Yes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6451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59669"/>
                </a:solidFill>
              </a:rPr>
              <a:t>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07492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1480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F1C"/>
                </a:solidFill>
              </a:rPr>
              <a:t>PDF Reports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51480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59669"/>
                </a:solidFill>
              </a:rPr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51480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1480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51480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59669"/>
                </a:solidFill>
              </a:rPr>
              <a:t>Yes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9144000" cy="822960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9202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User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2860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Streamlit + Custom CSS (Nawy Theme)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834640"/>
            <a:ext cx="9144000" cy="822960"/>
          </a:xfrm>
          <a:prstGeom prst="round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9260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Business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9184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Python: Prediction, Charts, Maps, PDF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840480"/>
            <a:ext cx="9144000" cy="8229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9319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ML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29768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CatBoost Regressor (12 MB)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846320"/>
            <a:ext cx="9144000" cy="8229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9377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30352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119,916 listings + Geography hierarchy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6FF"/>
                </a:solidFill>
              </a:rPr>
              <a:t>Phase 1 (Done)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- AI Price Estimator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- Property Gallery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- Price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- ROI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45920"/>
            <a:ext cx="3474720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6FF"/>
                </a:solidFill>
              </a:rPr>
              <a:t>Phase 2 (Done)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- Market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926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- Mortgage Calculator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- 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840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- Chat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8" y="1645920"/>
            <a:ext cx="3474720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8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6FF"/>
                </a:solidFill>
              </a:rPr>
              <a:t>Phase 3 (Next)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8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- Real Property Photos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8" y="2926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- Property Details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- 3D Tours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8" y="3840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F1C"/>
                </a:solidFill>
              </a:rPr>
              <a:t>- Mobile App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058400" cy="640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A0F1C"/>
                </a:solidFill>
              </a:rPr>
              <a:t>First AI-powered bilingual property valuation for Egypt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23160"/>
            <a:ext cx="10058400" cy="640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A0F1C"/>
                </a:solidFill>
              </a:rPr>
              <a:t>Trained on 119,916 real listings (largest dataset in market)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00400"/>
            <a:ext cx="10058400" cy="640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337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A0F1C"/>
                </a:solidFill>
              </a:rPr>
              <a:t>R2 = 0.7061 - comparable to international standards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977640"/>
            <a:ext cx="10058400" cy="640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A0F1C"/>
                </a:solidFill>
              </a:rPr>
              <a:t>Full Arabic support - targeting 100M+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754880"/>
            <a:ext cx="10058400" cy="640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892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A0F1C"/>
                </a:solidFill>
              </a:rPr>
              <a:t>Competes with Zillow, Nawy, Aqarmap on core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532120"/>
            <a:ext cx="10058400" cy="640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669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A0F1C"/>
                </a:solidFill>
              </a:rPr>
              <a:t>Ready for commercial deployment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Egypt Real Estate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Live Demo: smart-house-price-predictor-77.streamlit.app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GitHub: github.com/qamarsobhy7-source/Smart-House-Price-Predictor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Contact: qamarsobhy7@gmail.com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